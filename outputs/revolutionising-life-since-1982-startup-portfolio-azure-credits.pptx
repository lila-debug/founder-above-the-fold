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5dcd8c51bb47fd" /><Relationship Type="http://schemas.openxmlformats.org/officeDocument/2006/relationships/extended-properties" Target="/docProps/app.xml" Id="R97830ea699214e3b" /><Relationship Type="http://schemas.openxmlformats.org/officeDocument/2006/relationships/officeDocument" Target="/ppt/presentation.xml" Id="R465a249843034b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7bf6883804900"/>
  </p:sldMasterIdLst>
  <p:notesMasterIdLst>
    <p:notesMasterId xmlns:r="http://schemas.openxmlformats.org/officeDocument/2006/relationships" r:id="R0a0f7723c8ee40cb"/>
  </p:notesMasterIdLst>
  <p:sldIdLst>
    <p:sldId xmlns:r="http://schemas.openxmlformats.org/officeDocument/2006/relationships" id="256" r:id="Rb03b9984ca224d63"/>
    <p:sldId xmlns:r="http://schemas.openxmlformats.org/officeDocument/2006/relationships" id="257" r:id="Rb804e8efadc844d3"/>
    <p:sldId xmlns:r="http://schemas.openxmlformats.org/officeDocument/2006/relationships" id="258" r:id="R020782a772e24f90"/>
    <p:sldId xmlns:r="http://schemas.openxmlformats.org/officeDocument/2006/relationships" id="259" r:id="R1712130a7dda42b8"/>
    <p:sldId xmlns:r="http://schemas.openxmlformats.org/officeDocument/2006/relationships" id="260" r:id="R35e0a43944ec474f"/>
    <p:sldId xmlns:r="http://schemas.openxmlformats.org/officeDocument/2006/relationships" id="261" r:id="R6406f78b45804790"/>
    <p:sldId xmlns:r="http://schemas.openxmlformats.org/officeDocument/2006/relationships" id="262" r:id="Rce5247cb3e374097"/>
    <p:sldId xmlns:r="http://schemas.openxmlformats.org/officeDocument/2006/relationships" id="263" r:id="R51954dddf45d4aaf"/>
    <p:sldId xmlns:r="http://schemas.openxmlformats.org/officeDocument/2006/relationships" id="264" r:id="R2501448cb9974cfc"/>
    <p:sldId xmlns:r="http://schemas.openxmlformats.org/officeDocument/2006/relationships" id="265" r:id="Ra5dedcf8136544c8"/>
    <p:sldId xmlns:r="http://schemas.openxmlformats.org/officeDocument/2006/relationships" id="266" r:id="Rafd51fdfea6b461a"/>
    <p:sldId xmlns:r="http://schemas.openxmlformats.org/officeDocument/2006/relationships" id="267" r:id="Rabaf3bb94c7a464f"/>
    <p:sldId xmlns:r="http://schemas.openxmlformats.org/officeDocument/2006/relationships" id="268" r:id="Ra5db0fa89ca743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8b74281af449a2" /><Relationship Type="http://schemas.openxmlformats.org/officeDocument/2006/relationships/slideMaster" Target="/ppt/slideMasters/slideMaster1.xml" Id="R4587bf6883804900" /><Relationship Type="http://schemas.openxmlformats.org/officeDocument/2006/relationships/notesMaster" Target="/ppt/notesMasters/notesMaster1.xml" Id="R0a0f7723c8ee40cb" /><Relationship Type="http://schemas.openxmlformats.org/officeDocument/2006/relationships/presProps" Target="/ppt/presProps.xml" Id="R50891c4b9bbf4442" /><Relationship Type="http://schemas.openxmlformats.org/officeDocument/2006/relationships/tableStyles" Target="/ppt/tableStyles.xml" Id="Ra9c045fe7bcc48fc" /><Relationship Type="http://schemas.openxmlformats.org/officeDocument/2006/relationships/slide" Target="/ppt/slides/slide1.xml" Id="Rb03b9984ca224d63" /><Relationship Type="http://schemas.openxmlformats.org/officeDocument/2006/relationships/slide" Target="/ppt/slides/slide2.xml" Id="Rb804e8efadc844d3" /><Relationship Type="http://schemas.openxmlformats.org/officeDocument/2006/relationships/slide" Target="/ppt/slides/slide3.xml" Id="R020782a772e24f90" /><Relationship Type="http://schemas.openxmlformats.org/officeDocument/2006/relationships/slide" Target="/ppt/slides/slide4.xml" Id="R1712130a7dda42b8" /><Relationship Type="http://schemas.openxmlformats.org/officeDocument/2006/relationships/slide" Target="/ppt/slides/slide5.xml" Id="R35e0a43944ec474f" /><Relationship Type="http://schemas.openxmlformats.org/officeDocument/2006/relationships/slide" Target="/ppt/slides/slide6.xml" Id="R6406f78b45804790" /><Relationship Type="http://schemas.openxmlformats.org/officeDocument/2006/relationships/slide" Target="/ppt/slides/slide7.xml" Id="Rce5247cb3e374097" /><Relationship Type="http://schemas.openxmlformats.org/officeDocument/2006/relationships/slide" Target="/ppt/slides/slide8.xml" Id="R51954dddf45d4aaf" /><Relationship Type="http://schemas.openxmlformats.org/officeDocument/2006/relationships/slide" Target="/ppt/slides/slide9.xml" Id="R2501448cb9974cfc" /><Relationship Type="http://schemas.openxmlformats.org/officeDocument/2006/relationships/slide" Target="/ppt/slides/slide10.xml" Id="Ra5dedcf8136544c8" /><Relationship Type="http://schemas.openxmlformats.org/officeDocument/2006/relationships/slide" Target="/ppt/slides/slide11.xml" Id="Rafd51fdfea6b461a" /><Relationship Type="http://schemas.openxmlformats.org/officeDocument/2006/relationships/slide" Target="/ppt/slides/slide12.xml" Id="Rabaf3bb94c7a464f" /><Relationship Type="http://schemas.openxmlformats.org/officeDocument/2006/relationships/slide" Target="/ppt/slides/slide13.xml" Id="Ra5db0fa89ca743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9f4de5496d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volutionising Manual">
      <a:dk1>
        <a:srgbClr val="000000"/>
      </a:dk1>
      <a:lt1>
        <a:srgbClr val="FFFFFF"/>
      </a:lt1>
      <a:dk2>
        <a:srgbClr val="2A2A2A"/>
      </a:dk2>
      <a:lt2>
        <a:srgbClr val="E9E4D6"/>
      </a:lt2>
      <a:accent1>
        <a:srgbClr val="1757A6"/>
      </a:accent1>
      <a:accent2>
        <a:srgbClr val="5DBB9D"/>
      </a:accent2>
      <a:accent3>
        <a:srgbClr val="F5C84C"/>
      </a:accent3>
      <a:accent4>
        <a:srgbClr val="D9432F"/>
      </a:accent4>
      <a:accent5>
        <a:srgbClr val="7D8792"/>
      </a:accent5>
      <a:accent6>
        <a:srgbClr val="222222"/>
      </a:accent6>
      <a:hlink>
        <a:srgbClr val="1757A6"/>
      </a:hlink>
      <a:folHlink>
        <a:srgbClr val="D9432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volutionising Man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903b9a8b74fbe" /><Relationship Type="http://schemas.openxmlformats.org/officeDocument/2006/relationships/notesMaster" Target="/ppt/notesMasters/notesMaster1.xml" Id="R7ad44280a6574c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9f096dd8464f28" /><Relationship Type="http://schemas.openxmlformats.org/officeDocument/2006/relationships/notesMaster" Target="/ppt/notesMasters/notesMaster1.xml" Id="R975a423ed93847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9a1bf51f6d4595" /><Relationship Type="http://schemas.openxmlformats.org/officeDocument/2006/relationships/notesMaster" Target="/ppt/notesMasters/notesMaster1.xml" Id="R2cdf97cf85764e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1b9fb54305401b" /><Relationship Type="http://schemas.openxmlformats.org/officeDocument/2006/relationships/notesMaster" Target="/ppt/notesMasters/notesMaster1.xml" Id="Rbb6fc38d53614b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da48541674de8" /><Relationship Type="http://schemas.openxmlformats.org/officeDocument/2006/relationships/notesMaster" Target="/ppt/notesMasters/notesMaster1.xml" Id="R3111d74e53d14c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b08d28a1f64860" /><Relationship Type="http://schemas.openxmlformats.org/officeDocument/2006/relationships/notesMaster" Target="/ppt/notesMasters/notesMaster1.xml" Id="Rf54d797c5fa24d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44b31c37ca4d9d" /><Relationship Type="http://schemas.openxmlformats.org/officeDocument/2006/relationships/notesMaster" Target="/ppt/notesMasters/notesMaster1.xml" Id="Rc592198b422e40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926a5c801a4b02" /><Relationship Type="http://schemas.openxmlformats.org/officeDocument/2006/relationships/notesMaster" Target="/ppt/notesMasters/notesMaster1.xml" Id="R34a7314936c24a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78581297b746de" /><Relationship Type="http://schemas.openxmlformats.org/officeDocument/2006/relationships/notesMaster" Target="/ppt/notesMasters/notesMaster1.xml" Id="R617677c758df40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bac8416e634940" /><Relationship Type="http://schemas.openxmlformats.org/officeDocument/2006/relationships/notesMaster" Target="/ppt/notesMasters/notesMaster1.xml" Id="Rc44f72a90f0a44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a487ed2eab4914" /><Relationship Type="http://schemas.openxmlformats.org/officeDocument/2006/relationships/notesMaster" Target="/ppt/notesMasters/notesMaster1.xml" Id="R0c358db41b7145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5687ada0d24c52" /><Relationship Type="http://schemas.openxmlformats.org/officeDocument/2006/relationships/notesMaster" Target="/ppt/notesMasters/notesMaster1.xml" Id="Rdf4d050672f142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51bfff8a554f79" /><Relationship Type="http://schemas.openxmlformats.org/officeDocument/2006/relationships/notesMaster" Target="/ppt/notesMasters/notesMaster1.xml" Id="Ra03352770030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position the deck as a founder portfolio and Azure workload case. Visual generated locally for this deck; no external logos or 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arc: personal brand to product portfolio to Azure workload. Uses AGENTS manual language: Mission Control 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gave product names, launch timing, and Thrifty tagline. FlatFinder/Rube position is framed directly from names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tasks/prd-dispatch-linkedin-mcp.md. LinkedIn safety boundaries are explicit: no scraping, no auto-DMs, no profile editing, no automating likes/follows/comments.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the product name and July launch were provided. Product mechanics are framed as working thesis and validation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user correction plus /Users/hella.crypto/Documents/Claude/Projects/NMH/README.md. Avoid the user's forbidden gatekeeping phrasing; deck uses English.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Tagline supplied by user. Product shape remains a working positioning until launch collateral or prototype evidence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described Mega Awesome Agent Creator / Rube.works as a digital Rube Goldberg machine launching next month. Current date context makes that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Azure service mapping is a planning assumption, not a final architecture. It supports the grant/workload narrative without committing to untested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checked 2026-07-07: https://www.microsoft.com/en-us/startups and https://learn.microsoft.com/en-us/startups/microsoft-for-startups/application. Official pages state up to $150,000 in credits; no confirmed $250,000 public figure was found in this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repo AGENTS instructions and docs/13-product-delivery-backlog.md launch-readiness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Uses IKEA beta-test rule: tester outside the domain, no live coaching, capture breakpoints, fix app/manual/expectation/access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concrete ask. Evidence gaps still to fill before application: legal startup name, primary website/domain, cost estimate, registered address, Microsoft account/Azure eligibility, and any investor referral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52245de5a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d3c98cfbe49f0" /><Relationship Type="http://schemas.openxmlformats.org/officeDocument/2006/relationships/slideLayout" Target="/ppt/slideLayouts/slideLayout1.xml" Id="R65912576509a4e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12576509a4e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volutionising Manual">
      <a:dk1>
        <a:srgbClr val="000000"/>
      </a:dk1>
      <a:lt1>
        <a:srgbClr val="FFFFFF"/>
      </a:lt1>
      <a:dk2>
        <a:srgbClr val="2A2A2A"/>
      </a:dk2>
      <a:lt2>
        <a:srgbClr val="E9E4D6"/>
      </a:lt2>
      <a:accent1>
        <a:srgbClr val="1757A6"/>
      </a:accent1>
      <a:accent2>
        <a:srgbClr val="5DBB9D"/>
      </a:accent2>
      <a:accent3>
        <a:srgbClr val="F5C84C"/>
      </a:accent3>
      <a:accent4>
        <a:srgbClr val="D9432F"/>
      </a:accent4>
      <a:accent5>
        <a:srgbClr val="7D8792"/>
      </a:accent5>
      <a:accent6>
        <a:srgbClr val="222222"/>
      </a:accent6>
      <a:hlink>
        <a:srgbClr val="1757A6"/>
      </a:hlink>
      <a:folHlink>
        <a:srgbClr val="D9432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volutionising Man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7dae50a0847f0" /><Relationship Type="http://schemas.openxmlformats.org/officeDocument/2006/relationships/image" Target="/ppt/media/image.png" Id="Rd4b4884350b34984" /><Relationship Type="http://schemas.openxmlformats.org/officeDocument/2006/relationships/notesSlide" Target="/ppt/notesSlides/notesSlide1.xml" Id="R079456a297cf40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bda1f99c44931" /><Relationship Type="http://schemas.openxmlformats.org/officeDocument/2006/relationships/notesSlide" Target="/ppt/notesSlides/notesSlide2.xml" Id="R25f913a2b143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fd9957b084721" /><Relationship Type="http://schemas.openxmlformats.org/officeDocument/2006/relationships/notesSlide" Target="/ppt/notesSlides/notesSlide3.xml" Id="Rfc120dac68af4d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d1479b624dc0" /><Relationship Type="http://schemas.openxmlformats.org/officeDocument/2006/relationships/notesSlide" Target="/ppt/notesSlides/notesSlide4.xml" Id="R133a5c2ddf454f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0f9d520a6489e" /><Relationship Type="http://schemas.openxmlformats.org/officeDocument/2006/relationships/notesSlide" Target="/ppt/notesSlides/notesSlide5.xml" Id="Rf7a4615855c144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7928fae3845e8" /><Relationship Type="http://schemas.openxmlformats.org/officeDocument/2006/relationships/notesSlide" Target="/ppt/notesSlides/notesSlide6.xml" Id="R349a8747447244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1fbeafcc24e4c" /><Relationship Type="http://schemas.openxmlformats.org/officeDocument/2006/relationships/notesSlide" Target="/ppt/notesSlides/notesSlide7.xml" Id="Rf6d172f9cbc948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36008c8ca4abc" /><Relationship Type="http://schemas.openxmlformats.org/officeDocument/2006/relationships/notesSlide" Target="/ppt/notesSlides/notesSlide8.xml" Id="R8ab72d00dca44e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b04c5a79444be" /><Relationship Type="http://schemas.openxmlformats.org/officeDocument/2006/relationships/notesSlide" Target="/ppt/notesSlides/notesSlide9.xml" Id="Rc0254a8f47fa4e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161c72d5d4e8e" /><Relationship Type="http://schemas.openxmlformats.org/officeDocument/2006/relationships/notesSlide" Target="/ppt/notesSlides/notesSlide10.xml" Id="R5ec3af9865874d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eb78e485e4f6e" /><Relationship Type="http://schemas.openxmlformats.org/officeDocument/2006/relationships/notesSlide" Target="/ppt/notesSlides/notesSlide11.xml" Id="R9c866d4055ff48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ed19a2e0b48bf" /><Relationship Type="http://schemas.openxmlformats.org/officeDocument/2006/relationships/notesSlide" Target="/ppt/notesSlides/notesSlide12.xml" Id="Ra048ebe3582648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0c86ade4a456a" /><Relationship Type="http://schemas.openxmlformats.org/officeDocument/2006/relationships/notesSlide" Target="/ppt/notesSlides/notesSlide13.xml" Id="R9e0fa0735ee7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4884350b349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FB972-CBE3-4322-8555-37CBE033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0">
            <a:solidFill>
              <a:srgbClr val="FFFD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6A090-0324-458A-9841-F8EF0CC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FFFEC-6807-4E74-BDFC-DB6DD9BD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STARTUP PORTFOLIO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9D27D-ECFD-40C9-929E-0CC8202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27F33-12C3-4AB4-BC4B-CE7AEC2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Five named product rails, one founder brand, and a practical Azure credit case for July and August launches.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B6B24-A445-4F68-AC62-24F5D906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Founder Above the Fold  |  FlatFinder  |  No More Hieroglyphics  |  Thrifty  |  Rube.works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F4CFC-A8A5-494D-B9F1-3874856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32088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7E683-F591-4C56-89ED-C8837A60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BBDD-C68A-4AF9-9E41-B560647F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MISSION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BB1C8-9BB6-42A6-A48C-5342AAF9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One founder brand ties the launch bench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7F11C-95D5-4D60-B7B8-F2A7CDC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story is not four disconnected experiments. It is one operating system for turning messy real-life workflows into usable AI-native products.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B5633-368E-4774-A6B5-CD025305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31A24-B12B-4A1B-A09A-EE38807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326B8-7CD3-4DF2-BE71-A8D5DB0F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56416-88D2-4C62-BF53-12B3E8C7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brand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BA623-0614-4688-8B5B-5DC095C4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 long-running invention posture with a clear voice.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E256D-67D6-4EBF-95A7-ACA7E11C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528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BDC29-BE75-4952-8C63-1D34808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804F5-E546-49B6-9B56-CEE47D4B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AD846-0C47-4199-8A62-93C47F04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718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BC3D2-BDA9-4424-9A00-5E50F8DB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bench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ECC35-C405-4FB9-A4CA-58EDEDBA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147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Apps, MCP rails, workflows, and manuals built together.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8FE36-AF47-4963-8661-E1A044A2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528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A2275-E627-464A-B6AF-7F2FD60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6C55E-0285-4CD2-A17F-1084ED59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FB0CB-583D-402D-9292-5CFEF12E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718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C84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C84C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5B51C-CE73-4561-9914-5CDFE44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window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CB070-CC67-4349-A786-F92AF824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147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July products now; Rube.works follows in August.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21FA6-9B4A-4A2E-825E-E5E09B9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528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3F486-691C-4936-AD5C-5F12B4FA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3E62D-4123-400E-AF3E-9671CCE7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A7C33-534A-4239-887F-F41CA28E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718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64FA1-1918-4C91-B9D4-0F820FC7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Visible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F77C1-6BD2-4ED1-82B7-F230D749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147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Azure-backed products with measured launch tests.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A8F3EC-AD00-4B74-8F59-FF3A98CE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006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Goal -&gt; shared system -&gt; visible launches -&gt; credit-worthy growth workload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11C58-6322-4A5D-8345-F6ED10A9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4DD18F-2539-4433-A56D-DC89CBCE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B3018-0F55-4F6C-9CA1-980DFD6E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0415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0DA9B-CAA3-428D-991E-FB6B47F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5645A-49A6-4906-A07A-288FD753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BOX 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65127-717F-4EAB-886D-60741F9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named product rails are ready to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DBF33-D978-4EFD-A355-3A58A39C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Each part has a launch slot and a practical job. Unknowns stay labelled until customer tests confirm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1CF4C-302A-4832-9F39-9B78CE19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BF018-CC3F-4D13-889D-B92D187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3AABD-0372-4811-86FF-2AC6535D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Founder Above the Fold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LinkedIn profile MCP app and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D34E-BC09-4BDC-B029-C1C2CCE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D4454-D1AC-4DF4-B261-8306D611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17C77-B3C9-4A09-AC41-379D0899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FlatFinder Housing Revolutionized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Housing-search workflow, launching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88595-10E0-4EB5-AE25-B2560FC6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E4D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89B3D-089B-48A8-8674-49ADD5D5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D879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8792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B15F1-28FF-412B-B422-D397616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 More Hieroglyphics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Legal gibberish to English translator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A0FC-B864-42EE-B9EA-61BEAC4D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54694-B312-4C61-B8BA-CC186638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C8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C84C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4798F-274F-4955-B40C-13B50B2D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Thrifty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"I may be thrifty, but I'm not frugal."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Launching July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C218C-EFF0-4E2E-9895-933B3D2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88945-A308-4B93-884D-0A910E4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AA65C-9F50-4293-BD1B-346762CC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57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Mega Awesome Agent Creator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Rube.works, a digital Rube Goldberg machine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Launching August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BE22E-B9A2-4DE4-806D-CEAAD13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FF72D-6200-4543-805E-324055B0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3E17F-5BFF-4569-A860-18E9739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57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Additional launches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Coming soon, with space left on the 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4F760-4658-4A3D-9CA3-2FFC057D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4B8E3-C157-4953-9CBF-52AB1430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36BAB-F4AF-4F2E-8EFB-254B5B9C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9189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6D98D-6B44-4B88-8C4C-F7E3C29A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1757F-B510-4D73-B95F-0DA75225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76578-3AA3-4F4C-849A-56F00FE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Founder Above the Fold makes LinkedIn presence controllable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D9984-600A-4574-A270-8C3A74B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This is the most defined product today: a safe single-owner LinkedIn operating workbench that keeps posting, profile copy, voice, and analytics aligned.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627AB-21CD-4DB5-861F-571FC7B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F1437-B7C5-40A6-A4D5-2C4A4A62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668D8-CFB1-4DDE-9BC2-D96D9BB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Place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26161-2E37-4FF7-90D3-B86F3265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Queue and schedule posts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B4878-132B-4517-ACF9-C44EFB26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Draft posts move into a visible queue, then publish through permitted LinkedIn APIs when the owner has connected the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3F3D3-0DD3-4E0A-8144-C06B5437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432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11024-A357-4D3A-B64A-B414461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4320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8ECDF-EFBC-4DCA-A436-803EE183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146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23447-3A3F-40D9-905D-A03424B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718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 gate before launch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89D0F-D8E2-46DB-8022-A736B00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57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British English and Prototype Cafe voice rules check copy before it can be queued.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912A9-74AE-4B17-99E1-DD12BDF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5D9AD-42A7-4486-A67C-62B5E245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B57E3-3E7F-4BBC-8B5B-33F7AD61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9E6E9-FD95-4946-8706-4EE02400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718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Profile drift stays manual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854CB-D2A7-40E2-A938-6A0B2F8B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Headline, About, and Experience copy are tracked as canonical panels, with a clear manual paste flag.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E6B1D-8018-4188-B768-91DD203B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1490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D6F8D-1DFC-45AE-8D3B-60E9BFF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815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SCRAPING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983BC-19F3-4822-AD40-6802C93C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1490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EF71A-F7EA-47F8-AD33-2C7E587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815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AUTO-DMS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1F6D3-7170-4762-A413-9866A2D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1490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5A6B5-0CEF-4714-BCB8-B1F9C8C8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815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PROFILE EDITS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F6AF4-480B-4A05-BC24-3638F7F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1490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83433B-7470-455B-AE2A-77EBC98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815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OWNER-ONLY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B8540-E8EE-4128-8BFB-7FEEB3A7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43D52-DE40-463E-8DD5-3DC8483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1251C-2BDF-44AF-87A9-6483F2B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7940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13C24D-1BEE-4538-92C7-2DA31040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74E14-2F0A-46D5-A699-B2C2AD76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3DD01-4138-4D23-A651-C32D1CB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FlatFinder turns the housing hunt into an inspection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1633F-791D-41F5-8823-F7CE0ED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Working thesis: housing search gets less chaotic when every option can be captured, compared, checked, and followed up from one repeatable 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955F7-1E89-4FCC-975C-18D734C7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D2623-B8E9-4AAC-97FE-3263EF18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22C03-92B7-4480-BF0A-11341C22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0A08C-51B0-4059-9FC3-0CFE677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33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66744-2237-42A6-B482-0F776233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95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Place listings, requirements, viewings, and notes into one housing workbench.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74709-4541-46C3-AFC8-1C518256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12202-D18C-45F9-A228-1DD14EE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BC007-8885-49EC-BD1A-798364F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5AEF6-7189-4219-8172-32A3526E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CC754-DC01-4DE6-8B69-60F24729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95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Align affordability, commute, availability, and fit so choices are not trapped in scattered tabs.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AB401-3942-4804-9C4E-DD4C12C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55BAB-3834-4DBF-858C-FFF65441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12909-0C2B-4715-BA88-5EA4BDD5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9F504-2B33-43D9-ADD2-4254913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33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E92BB-F93E-49BC-B85B-EB764C4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95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Turn the July launch into proof: can a user make a better shortlist faster?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8B849-B2B7-41EF-818F-D2572EC9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8039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89CAB-FB75-4282-97EF-4FB34DC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114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41EC4-75B5-4745-80CA-1B4270F1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05350"/>
            <a:ext cx="758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879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D8792"/>
                </a:solidFill>
                <a:latin typeface="Aptos"/>
                <a:ea typeface="Aptos"/>
                <a:cs typeface="Aptos"/>
              </a:rPr>
              <a:t>Evidence label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D2551-6EB1-4AF3-BF64-D2BC4E40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33950"/>
            <a:ext cx="758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Known 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EF79E-DBAA-491C-95CB-67FF2BE8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57800"/>
            <a:ext cx="758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Name and July 2026 launch timing are provided. Product mechanics should be validated through the first search workflow test.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B7773-F85F-4A4D-900C-91DE412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64DAD-57C4-4FDE-984D-B0BAF69C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9CB3F3-4C74-41E0-A304-A277B226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28224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EEAFEC-B373-4B70-AE78-E470C819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09334-DA54-46F9-AAB5-AD3C201A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C0C40-A5DD-4A6D-B39A-2B693FA2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More Hieroglyphics translates legal fog into English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884C2-FC12-4B3B-9FF9-C2F7FA8B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This is the anti-gatekeeping rail: leases, contracts, terms, privacy policies, and other dense documents become readable enough to inspect before signing.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C8B12-71DB-40EC-A03F-03B50FE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C9037-2FDC-47B2-BDE1-7FEC2DE0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2DE3F-FD9E-43F4-A208-8A66E2E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879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D8792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2B141-6CD5-470A-9B8F-D541C4A2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Documents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C8B69-9A33-44A1-A580-FFE51ADD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PDFs, images, or pasted text can be placed into the tool for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9E19B-8CAB-4E8F-9B58-FE418492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887DB-FFE9-4CC3-9F7C-F3088F1A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0E613-2DBC-4DDD-A1B1-421364B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33C6E-371B-45EC-8868-5ABD4AE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527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Traps 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6765C-7F6F-41A6-986B-0B1E9886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Buried obligations, fee escalations, auto-renewals, arbitration, and ambiguity get flagged.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59583-701D-4984-810E-AC8DD407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4D134-8D8A-425C-AD42-A7127D8A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FB897-D4ED-482F-9928-32373F04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BF9C8-BC21-4F5C-B131-14F63682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527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English, not legalese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B27A8-D668-456B-A4C7-FBBDF0C7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product shows what the document says and what it means without gatekeeping.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F78A9-AC1C-443B-A01F-1C4E708E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958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B22D5-B27A-4AA6-89C8-B8351AB3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625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NOT ATTORNEYS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7835F-C309-4A6C-B7E6-E3827577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958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FE21A-1197-4DFC-B366-97DC00E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6252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NOT LEGAL ADVICE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ADE40-96C2-4A2E-A32C-27654FD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DEAAC-F91E-4464-ACD3-0F7AD89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6252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OF FLATFINDER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6EB88-853E-465B-8284-82356790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B4BF2-EC5F-435A-914D-0F6E278F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AC73D-7411-451E-B344-95602BA6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3570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45EBC-E766-4043-8D49-49C166F2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C6A64-5450-4CB3-BE73-15D008CF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F7D32-3092-4DD2-945B-118D49B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Thrifty makes careful spending feel sharp, not small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8B840-41CC-45F7-B717-45407B7B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brand starts with a memorable line and a July launch slot. The product should make cost-conscious decisions feel designed, not apologetic.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0E6E3-9656-499C-8883-DA595025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009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C84C"/>
          </a:solidFill>
          <a:ln xmlns:a="http://schemas.openxmlformats.org/drawingml/2006/main" w="2857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CF512-D703-4AEC-BEF2-C8E9B4D5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"I may be thrifty, but I'm not frugal."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DFE2A-DA9C-4B2F-888A-5B08301F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EAD4F-1A04-497E-834C-26DD2F73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114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BB12F-AB52-4EEC-816C-9606EDA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481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Working 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C59AD-CB9B-4697-A8E3-23EE5AC8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76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Separate value from cheapness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3062B-F2AF-4010-8137-3B6A0D54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Thrifty can own the space between saving money and lowering standards.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1BF2A-D3FD-44B6-A05D-9DCA5DCC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3387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402CB-99D6-426E-8EE9-8BB42A8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33875"/>
            <a:ext cx="114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0D1EE-ADB0-40DE-B8F6-C7C9772F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481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First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00D8F-4864-41AC-ADEB-A7DA0F23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76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 people repeat the line?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CA3D9-168F-4E19-AEB3-FF51DF0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tagline is already sticky. The launch test is whether users understand the product promise underneath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3F05B-58BB-4819-8029-A634742A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510E8-F935-43DE-A5EE-4074237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114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A6755-1963-40B5-9593-EA6BD66C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481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Launch 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09908-3DDD-41DE-A94F-C3B1A84B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76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40C90-EE3C-49C3-A0F4-78A4D7EC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006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Keep the first release narrow enough to ship, measure, and revise quickly.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B7992-7E38-4080-B471-F3A6584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96413-4279-49FA-AE90-913905E3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2B00C-5705-45B4-97EB-5C6AF94B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4817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67B3E9-6EC9-469B-9D05-26E32A73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60D64-56C7-48BE-B633-FDB6D0AE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CB943-C801-4479-8C23-0EFC3C5D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Rube.works turns agent creation into a visible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49F10-3906-4734-862E-F4BE1229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Mega Awesome Agent Creator is the playful power tool: a digital Rube Goldberg machine for assembling agent workflows without hiding the mechanism.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AAD0-5191-4998-9369-0BB180D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AE43D-0087-499D-8F22-004E0C3B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0D1-BA96-4D4A-9C73-F2CDB4DE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9163E-F31D-4563-B302-32325267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Prompts and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D435E-0411-48AD-A3D9-32B5B78E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Users place templates, connectors, files, and actions onto a visible build rail.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EBEDC-2DD3-48F4-9D62-A85A940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CC8EB-9AA4-4A3B-84C9-A0AF57C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5BA23-FEA9-461C-8DF8-17C6FE8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D63FC-709F-4ABF-B3F2-6D9E01FD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Fasten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3475C-E230-4B38-A4E2-0C46725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52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Agent 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8055E-82B9-4A06-A07E-98128EE5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product locks steps together so a workflow can be inspected and repeated.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631A0-BA02-41C4-BC9C-BE49737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718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82089-4326-44EF-8669-71FE2440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743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FFEFC-0F03-436B-B964-EFC411CF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7247A-653D-4414-A2C5-5DB14494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B2253-0773-4380-AEC8-9B53807F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527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Finished 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24E53-8796-46EE-A4E3-97725B80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machine runs, shows what happened, and leaves a manual panel behind.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93F62-DD12-4C73-B386-0499AB5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4C8FB-5DCC-4A4C-BEAA-1821AEDC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244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RUBE.WORKS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9B59C-339A-4B2A-B38F-9D405344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577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EFF998-2331-43D3-8D46-D7F25665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244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AUGUST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0A36A-5833-412E-B26D-9ABE792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A98F4-89D5-4EDD-9E00-0E7E56D1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244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COMING 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B1A9C0-B819-45C9-A99E-AB478635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10ECA-240A-4CF6-91F9-446C2A1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B10A94-EA13-415D-A0B8-5036AB91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9758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C89A75-ACA6-4F0B-81E1-B9150BAA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7F921-27E3-4540-B9CF-3ADDB9A4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POWER 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BD72C-A5F4-4F44-A97E-2EBAC25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One Azure backbone can power the whole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1B454-D47A-4CC1-89A1-7F7F9125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products can share the same cloud pattern: web apps, databases, queues, storage, AI calls, monitoring, and cost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02D1-18B4-4EB1-A306-C5E677EC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DBF78-979C-4860-A9B5-F83BEA09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765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Founder Above the 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28305-C74F-4FD3-AEED-EE16BD08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193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B5B91-9ED9-493C-A5E2-5B41F184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B50F0-A0E6-4624-BBD4-8704A342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289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FlatFinder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CA58D-6985-405B-A25F-D280110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718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CA6D1-11E4-4F90-AAA4-3F1E065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861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E4D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516A1-3CFA-4A1F-9E7D-9AD5202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814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More Hieroglyphics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8F348-0178-445D-AA6C-A8AA0ED8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242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1B625-F85E-404D-AAF6-BF41AA70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C820B-BE94-4A0D-A103-30A88FED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Thrifty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7DA21-3E25-4C81-A106-80FB679D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767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1F888-DB37-4FAA-BCC9-0F04CAC4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074E2-3CB7-4374-AD67-4569FCD5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863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Rube.works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E5400-23B0-4779-8E7B-C2A102B6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291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36B4A-EE5F-46D1-B2C1-EDD0033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F8B64-D291-493E-8139-C25C42C2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41E72-A3ED-40D2-8A4C-36A92A8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Shared 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17689-B20C-4DD3-B24E-E8A9BA2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718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Reusable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816C9-CBEB-407D-B085-3D70BA4B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576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Auth, app hosting, database, queues, file storage, AI inference, analytics, logs, and privacy controls.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B401F-23D4-48E3-A11C-083F6BE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7AE57-A70F-434C-AB7D-B4761F0F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5E69D9-8169-4D22-8C9D-2E46128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3B8330-DC88-4703-BE54-D7A6F65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14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Azure cabinet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13FA41-23B5-497C-99E5-27A2D701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7187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Credit-backed build room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A4FB3-75C0-4256-AE93-61322F38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576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 single measured environment can host prototypes, staging, launch traffic, experiments, and cost alerts.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38D87-A2F1-492C-BFB2-E121D570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C333C4-F4C9-4F81-AB93-24C96A60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EF2BD-EB3E-4279-983B-D21A8FC6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3273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5ED21-3EB0-419B-A82F-873A81C7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E3335-2902-4FF6-AEF1-DADFA0C4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CREDIT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FC93A-8E95-41EB-8529-A97B09A3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credit request is a runway and workload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6E60A-7FF4-40D3-A4A9-57BC8024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Microsoft should see the ask as practical: reduce launch friction, fund real AI/data experiments, and keep cost controls visible while the portfolio proves demand.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39FC1-70BB-4B98-89C5-8E46CE27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17D84-B76F-4078-815E-6929FB6A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FE69A-8115-4338-8933-527399A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9BAC-B29C-45AA-8D68-51D5EA2B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Multiple launches share one 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2CF8D-0091-40F7-978D-A9F7F7EB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July and August create real hosting, testing, data, and AI demand instead of a vague future infrastructure wish.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535BB-FBDB-419A-913A-3DEB10FC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0AECB-6BDE-4036-9E24-CA657018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CA351-DE22-4002-B5EB-56A3A832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860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What credits unlock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91314-E050-499C-9FC5-E94FB101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More tests before cash burn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BC6B3-230C-44C1-8732-A78CA2C9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29025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Credits buy room for staging, telemetry, AI-assisted workflows, privacy checks, and realistic launch traffic.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69715-3232-4AF5-BA3A-2FB19450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34E19-E936-4626-B58F-2694089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3D90D-24A0-4105-96BE-FFC9AA2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860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Evidence guardrail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450E3-5552-4684-9FBE-85B13C8E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Exact tier must be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98914-CF9F-4E94-AC4A-397721AE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29025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Microsoft public pages describe credits up to $150,000; review and referral paths affect the tier.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6C517-BE46-4516-81E0-2493EBD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923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611A8-5E19-41EA-912E-CE088ECA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05400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Ask for the highest eligible Azure credit path, not a promised amount.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1CBEF-F0CC-43A5-89CB-0A62B931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68580-92EA-44E7-B721-147611F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5AE64-CCC3-47B4-AC3E-1E41620A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14311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D20DB-30DB-47C7-8E42-51AB38C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45E40-A874-4D6D-95EA-11765061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SAFETY STICKERS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D64CC-0585-4553-87A7-83DD15AF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discipline lowers programme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DF522-05B7-4B4D-9080-5CC9249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portfolio is strongest when it shows controlled build habits: privacy, consent, budget alerts, official APIs, and clear setup states.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9FBB4-752D-4047-B12B-9ECB00A7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F4FEB-D100-40C7-A9A0-8B792202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7A9E7-4CD5-487D-B0AF-46B9BD50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FFC83-EE4B-4A6E-8ADB-1669DE7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Privacy and cookies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F4DE8-1D0A-4F8A-8027-A2ED25CC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Live public routes, consent setup, and plain setup states before production traffic.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6C1B-6138-4BD9-A797-20C69F4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6718E-866A-411C-847B-B0419BA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146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60693-2AA8-4990-9DDA-730D28CC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6B323-55CE-458C-A166-89F64C12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14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Official API 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99400-339F-4981-AD51-6A1C6A35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Founder Above the Fold avoids scraping, unsafe LinkedIn automation, and hidden profile-edit claims.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CB489-1D64-48CC-8A09-112F8611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F5473-B694-4404-BACE-04900A82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9BF7C-1B5B-4534-A8EC-C1B2EF5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0A402-FAF3-43A5-9FDB-572E1B40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3EEB5-DEF9-4E6E-BC85-9A892771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Lint, typecheck, build, link checks, browser checks, and manual panels travel with each surface.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92ADF-F4E1-41FC-ADB1-914C263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7810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B7D15-2F4A-4AF0-9F6D-36513BF6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F5B83-634B-448C-A77F-5EF1637A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62500"/>
            <a:ext cx="735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879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D8792"/>
                </a:solidFill>
                <a:latin typeface="Aptos"/>
                <a:ea typeface="Aptos"/>
                <a:cs typeface="Aptos"/>
              </a:rPr>
              <a:t>Manual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AFD38-EB15-4856-9C85-B986A28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9110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Every product ships with the manual beside 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342DD-4130-4643-B480-2847976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14950"/>
            <a:ext cx="735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same pass that builds a feature must also produce the assembly panel, warning labels, and finished-build test.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84470-1DD3-4824-B80A-94B830F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BC0EE-BB90-4AB7-B51A-817C23A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0E2AD-7811-45A4-AC18-3B8E558F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17555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2136C-B698-408A-9109-1420981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0859-81C5-4C1F-A6FF-A466532F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FINISHED-BUILD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F9CAE-47C3-432C-9585-99A15022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July and August are the first proof 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9C50F-D064-49E8-BF1E-2A496CAE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next evidence is not more description. It is working links, measured usage, and a clean Azure setup that can scale without surprise bills.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FECB-6237-4D79-BB86-B19F728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D77CD-2045-4888-B1C0-41F8C9E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04880-C97E-47F6-9785-5767AD56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1CA52-C999-40FB-AADB-DE5F10D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the July 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BC744-AA4B-47B3-9836-AB8EBC5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Founder Above the Fold, FlatFinder, Thrifty, and the FlatFinder-linked NMH surface move into public or beta-ready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8B856-FC8B-4EB5-B99E-11DF282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241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F5458-8636-4086-8E4C-999C9261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241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30DC2-4337-4195-8FD0-E7F5A944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95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August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9A939-2B10-42DD-BC07-54F9BD83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527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Rube.works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B04A2-864F-4C14-AAF3-B14E8DDD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Mega Awesome Agent Creator becomes the visible machine for assembling and testing agent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A5308-D80F-4EEC-BFF0-F84F518D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A7AA8-95E3-46CE-A097-417159A9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B1285-0934-48DF-8F8A-A500F7C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Coming soon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1AAD6-B730-42CD-A9ED-720FE5C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527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Leave the spare rail 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67EED-BFA8-4598-9394-0945316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Additional launches can be added without derailing the deck or pretending all details are known today.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3B514-B628-4DE8-9B2B-0830040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9677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E4D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7110D-D2C8-463A-A13E-66AFB3FA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906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Disproving test: if users cannot complete the first workflow without live coaching, fix the product or the manual before scaling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6B7A7-3682-4C20-A7FD-9C44EBAE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D30AB-3538-40DC-BF15-F4D4AB1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FC2A5-13B5-4041-A9B2-7CC6D5D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82711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DC7F6-7EFA-4446-9AE4-EC00F1AC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CA162-4E0B-4D33-9DAD-480BF72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B050A-3322-49B5-BA58-C9461EA9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Fit the Azure credit rail to the launch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949B1-D501-4CFB-BE1C-FD7C669D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 is ready to turn a crowded invention bench into measured software launches. The immediate need is credit support sized to the real workload.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E871F-E39F-4D07-96C7-C930A3D5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0439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C84C"/>
          </a:solidFill>
          <a:ln xmlns:a="http://schemas.openxmlformats.org/drawingml/2006/main" w="2857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ADBDB-8576-4840-BB79-7E6D5FEE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Review the portfolio for the highest eligible Azure startup-credit path and pair it with architecture guidance, cost controls, and launch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7E907-A692-4EEE-A394-4A6D800D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C7D7E-DE83-4A27-B278-E1FA5FD6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14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2948F-035C-43E0-A286-5923C0F6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89E84-2E40-4B55-A831-9B885417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Azure credits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C538D-0E61-4A9C-B4C2-86355D9A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Fund prototypes, staging, launch traffic, and AI/data tests.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D7D8A-019A-4C1F-8C39-42460242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EB642-1AF3-45BF-9BC2-B7CE6A5E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114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96B53-63E6-4FA7-9436-4B4830B2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1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Align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4A498-5487-49F1-A1DB-843C21FA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38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36F85-7EC0-4D98-A8B4-4B52947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62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Pick the first Azure services and clamp down cost alerts.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74F94-58C3-45D6-A1B8-17C836F3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62E72-2125-4D17-9A96-D97107E5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14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A982E-2F82-48CA-94FB-2B04B7BA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5E83B-B09C-4544-8AF4-AEBD4B2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38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Partner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B5635-CD10-4F13-9C77-86B4419F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62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Check Microsoft startup, investor, Marketplace, or co-sell routes.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CFC6D-9194-47CC-829D-01C64D13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15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7B9C1-7FC8-4AE4-BECA-4375241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A98D0-FE6B-49DF-B836-6946985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C3AAE-1C59-4229-90C5-8B97B273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7775980"/>
      </p:ext>
    </p:extLst>
  </p:cSld>
</p:sld>
</file>

<file path=ppt/theme/theme1.xml><?xml version="1.0" encoding="utf-8"?>
<a:theme xmlns:a="http://schemas.openxmlformats.org/drawingml/2006/main" name="ChatGPT">
  <a:themeElements>
    <a:clrScheme name="Revolutionising Manual">
      <a:dk1>
        <a:srgbClr val="000000"/>
      </a:dk1>
      <a:lt1>
        <a:srgbClr val="FFFFFF"/>
      </a:lt1>
      <a:dk2>
        <a:srgbClr val="2A2A2A"/>
      </a:dk2>
      <a:lt2>
        <a:srgbClr val="E9E4D6"/>
      </a:lt2>
      <a:accent1>
        <a:srgbClr val="1757A6"/>
      </a:accent1>
      <a:accent2>
        <a:srgbClr val="5DBB9D"/>
      </a:accent2>
      <a:accent3>
        <a:srgbClr val="F5C84C"/>
      </a:accent3>
      <a:accent4>
        <a:srgbClr val="D9432F"/>
      </a:accent4>
      <a:accent5>
        <a:srgbClr val="7D8792"/>
      </a:accent5>
      <a:accent6>
        <a:srgbClr val="222222"/>
      </a:accent6>
      <a:hlink>
        <a:srgbClr val="1757A6"/>
      </a:hlink>
      <a:folHlink>
        <a:srgbClr val="D9432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volutionising Man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2026-07-07T04:49:30.5230000Z</dcterms:created>
  <dcterms:modified xsi:type="dcterms:W3CDTF">2026-07-07T04:49:30.5240000Z</dcterms:modified>
</coreProperties>
</file>